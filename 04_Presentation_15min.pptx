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cd9fa73d154226" /><Relationship Type="http://schemas.openxmlformats.org/officeDocument/2006/relationships/extended-properties" Target="/docProps/app.xml" Id="R9eaa9a2f61484c9a" /><Relationship Type="http://schemas.openxmlformats.org/officeDocument/2006/relationships/officeDocument" Target="/ppt/presentation.xml" Id="Rfb0b1568e6ea47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8ab5fabedf4965"/>
  </p:sldMasterIdLst>
  <p:notesMasterIdLst>
    <p:notesMasterId xmlns:r="http://schemas.openxmlformats.org/officeDocument/2006/relationships" r:id="Rdee2744e84724785"/>
  </p:notesMasterIdLst>
  <p:sldIdLst>
    <p:sldId xmlns:r="http://schemas.openxmlformats.org/officeDocument/2006/relationships" id="256" r:id="Rdd95684be42e4846"/>
    <p:sldId xmlns:r="http://schemas.openxmlformats.org/officeDocument/2006/relationships" id="257" r:id="Rfb35b48a458a40ff"/>
    <p:sldId xmlns:r="http://schemas.openxmlformats.org/officeDocument/2006/relationships" id="258" r:id="R68de4c2fc2854099"/>
    <p:sldId xmlns:r="http://schemas.openxmlformats.org/officeDocument/2006/relationships" id="259" r:id="R13e4d21775fa4b58"/>
    <p:sldId xmlns:r="http://schemas.openxmlformats.org/officeDocument/2006/relationships" id="260" r:id="R7b2f46cf2a1b4ab0"/>
    <p:sldId xmlns:r="http://schemas.openxmlformats.org/officeDocument/2006/relationships" id="261" r:id="R5316f74e1e344767"/>
    <p:sldId xmlns:r="http://schemas.openxmlformats.org/officeDocument/2006/relationships" id="262" r:id="R13878d35e30b48a1"/>
    <p:sldId xmlns:r="http://schemas.openxmlformats.org/officeDocument/2006/relationships" id="263" r:id="Rba6dee17eebf4863"/>
    <p:sldId xmlns:r="http://schemas.openxmlformats.org/officeDocument/2006/relationships" id="264" r:id="R522144d332764565"/>
    <p:sldId xmlns:r="http://schemas.openxmlformats.org/officeDocument/2006/relationships" id="265" r:id="Ra4582946b62f4842"/>
    <p:sldId xmlns:r="http://schemas.openxmlformats.org/officeDocument/2006/relationships" id="266" r:id="R00b1b17e5bc64634"/>
    <p:sldId xmlns:r="http://schemas.openxmlformats.org/officeDocument/2006/relationships" id="267" r:id="Rff98872002fc44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b8931dfd364abf" /><Relationship Type="http://schemas.openxmlformats.org/officeDocument/2006/relationships/slideMaster" Target="/ppt/slideMasters/slideMaster1.xml" Id="Rd88ab5fabedf4965" /><Relationship Type="http://schemas.openxmlformats.org/officeDocument/2006/relationships/notesMaster" Target="/ppt/notesMasters/notesMaster1.xml" Id="Rdee2744e84724785" /><Relationship Type="http://schemas.openxmlformats.org/officeDocument/2006/relationships/presProps" Target="/ppt/presProps.xml" Id="R70011572e6ce4c22" /><Relationship Type="http://schemas.openxmlformats.org/officeDocument/2006/relationships/tableStyles" Target="/ppt/tableStyles.xml" Id="Rd7fb8de70c9a45a2" /><Relationship Type="http://schemas.openxmlformats.org/officeDocument/2006/relationships/slide" Target="/ppt/slides/slide1.xml" Id="Rdd95684be42e4846" /><Relationship Type="http://schemas.openxmlformats.org/officeDocument/2006/relationships/slide" Target="/ppt/slides/slide2.xml" Id="Rfb35b48a458a40ff" /><Relationship Type="http://schemas.openxmlformats.org/officeDocument/2006/relationships/slide" Target="/ppt/slides/slide3.xml" Id="R68de4c2fc2854099" /><Relationship Type="http://schemas.openxmlformats.org/officeDocument/2006/relationships/slide" Target="/ppt/slides/slide4.xml" Id="R13e4d21775fa4b58" /><Relationship Type="http://schemas.openxmlformats.org/officeDocument/2006/relationships/slide" Target="/ppt/slides/slide5.xml" Id="R7b2f46cf2a1b4ab0" /><Relationship Type="http://schemas.openxmlformats.org/officeDocument/2006/relationships/slide" Target="/ppt/slides/slide6.xml" Id="R5316f74e1e344767" /><Relationship Type="http://schemas.openxmlformats.org/officeDocument/2006/relationships/slide" Target="/ppt/slides/slide7.xml" Id="R13878d35e30b48a1" /><Relationship Type="http://schemas.openxmlformats.org/officeDocument/2006/relationships/slide" Target="/ppt/slides/slide8.xml" Id="Rba6dee17eebf4863" /><Relationship Type="http://schemas.openxmlformats.org/officeDocument/2006/relationships/slide" Target="/ppt/slides/slide9.xml" Id="R522144d332764565" /><Relationship Type="http://schemas.openxmlformats.org/officeDocument/2006/relationships/slide" Target="/ppt/slides/slide10.xml" Id="Ra4582946b62f4842" /><Relationship Type="http://schemas.openxmlformats.org/officeDocument/2006/relationships/slide" Target="/ppt/slides/slide11.xml" Id="R00b1b17e5bc64634" /><Relationship Type="http://schemas.openxmlformats.org/officeDocument/2006/relationships/slide" Target="/ppt/slides/slide12.xml" Id="Rff98872002fc44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61fadb87824f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f1988437b343be" /><Relationship Type="http://schemas.openxmlformats.org/officeDocument/2006/relationships/notesMaster" Target="/ppt/notesMasters/notesMaster1.xml" Id="R87fb3b2130204e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ced0e212474d8b" /><Relationship Type="http://schemas.openxmlformats.org/officeDocument/2006/relationships/notesMaster" Target="/ppt/notesMasters/notesMaster1.xml" Id="R485298f3f3914a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419dfeff384255" /><Relationship Type="http://schemas.openxmlformats.org/officeDocument/2006/relationships/notesMaster" Target="/ppt/notesMasters/notesMaster1.xml" Id="R4567a79095ae4b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a01d23e89d48f9" /><Relationship Type="http://schemas.openxmlformats.org/officeDocument/2006/relationships/notesMaster" Target="/ppt/notesMasters/notesMaster1.xml" Id="R44b650f13c9b46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416ebdcffe46d0" /><Relationship Type="http://schemas.openxmlformats.org/officeDocument/2006/relationships/notesMaster" Target="/ppt/notesMasters/notesMaster1.xml" Id="R15440aa23da343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6c0744278a4c49" /><Relationship Type="http://schemas.openxmlformats.org/officeDocument/2006/relationships/notesMaster" Target="/ppt/notesMasters/notesMaster1.xml" Id="R5612bdbd3fa349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a0d85a29254176" /><Relationship Type="http://schemas.openxmlformats.org/officeDocument/2006/relationships/notesMaster" Target="/ppt/notesMasters/notesMaster1.xml" Id="R450d9fcde7f342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6e5d670c0648b9" /><Relationship Type="http://schemas.openxmlformats.org/officeDocument/2006/relationships/notesMaster" Target="/ppt/notesMasters/notesMaster1.xml" Id="R444091b2780145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ed11b566c14442" /><Relationship Type="http://schemas.openxmlformats.org/officeDocument/2006/relationships/notesMaster" Target="/ppt/notesMasters/notesMaster1.xml" Id="R8886be505ce34d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a4ebbb58344408" /><Relationship Type="http://schemas.openxmlformats.org/officeDocument/2006/relationships/notesMaster" Target="/ppt/notesMasters/notesMaster1.xml" Id="Re69ac27fc0204c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23647a49c34f4a" /><Relationship Type="http://schemas.openxmlformats.org/officeDocument/2006/relationships/notesMaster" Target="/ppt/notesMasters/notesMaster1.xml" Id="R6aa92f1d5cd047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d4424843b949d0" /><Relationship Type="http://schemas.openxmlformats.org/officeDocument/2006/relationships/notesMaster" Target="/ppt/notesMasters/notesMaster1.xml" Id="Rda165f0970ed4b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 | Xuerui Huang | 00:00–00:30 (30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Good morning. We are Xuerui Huang, Bin Wang and Yonghui Dai.</a:t>
            </a:r>
          </a:p>
          <a:p xmlns:a="http://schemas.openxmlformats.org/drawingml/2006/main">
            <a:r>
              <a:t>Our project is the Campus Equipment Loan System.</a:t>
            </a:r>
          </a:p>
          <a:p xmlns:a="http://schemas.openxmlformats.org/drawingml/2006/main">
            <a:r>
              <a:t>I will introduce the requirements and plan.</a:t>
            </a:r>
          </a:p>
          <a:p xmlns:a="http://schemas.openxmlformats.org/drawingml/2006/main">
            <a:r>
              <a:t>Bin will show the design and demo.</a:t>
            </a:r>
          </a:p>
          <a:p xmlns:a="http://schemas.openxmlformats.org/drawingml/2006/main">
            <a:r>
              <a:t>Yonghui will discuss testing and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慢速介绍姓名和主题，30 秒左右换页。不要额外朗读封面的副标题。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 | Xuerui Huang | 00:30–01:30 (60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system helps a campus desk manage five devices: a laptop, camera, projector, tablet and microphone.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operator checks availability, records a loan, and later registers a return.</a:t>
            </a:r>
          </a:p>
          <a:p xmlns:a="http://schemas.openxmlformats.org/drawingml/2006/main">
            <a:r>
              <a:t>Each new loan needs a name or alias and a phone number.</a:t>
            </a:r>
          </a:p>
          <a:p xmlns:a="http://schemas.openxmlformats.org/drawingml/2006/main">
            <a:r>
              <a:t>Returned loans stay in the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application runs on one computer and saves records locally.</a:t>
            </a:r>
          </a:p>
          <a:p xmlns:a="http://schemas.openxmlformats.org/drawingml/2006/main">
            <a:r>
              <a:t>It does not need a server.</a:t>
            </a:r>
          </a:p>
          <a:p xmlns:a="http://schemas.openxmlformats.org/drawingml/2006/main">
            <a:r>
              <a:t>Each device has a fixed ID to avoid confusion.</a:t>
            </a:r>
          </a:p>
          <a:p xmlns:a="http://schemas.openxmlformats.org/drawingml/2006/main">
            <a:r>
              <a:t>Different computers keep their own separate loan records.</a:t>
            </a:r>
          </a:p>
          <a:p xmlns:a="http://schemas.openxmlformats.org/drawingml/2006/main">
            <a:r>
              <a:t>The demonstration uses fictional borrower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慢速讲述；句号处自然停顿。指向设备清单和借还流程。此页结束时累计 1 分 30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 | Xuerui Huang | 01:30–03:00 (90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six user stories cover availability, borrowing, returns, history, saved records and Unicode names.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core workflow and saved records are Must requirements.</a:t>
            </a:r>
          </a:p>
          <a:p xmlns:a="http://schemas.openxmlformats.org/drawingml/2006/main">
            <a:r>
              <a:t>History is a Should requirement, and it is included.</a:t>
            </a:r>
          </a:p>
          <a:p xmlns:a="http://schemas.openxmlformats.org/drawingml/2006/main">
            <a:r>
              <a:t>The operator can still read past loans after a return.</a:t>
            </a:r>
          </a:p>
          <a:p xmlns:a="http://schemas.openxmlformats.org/drawingml/2006/main">
            <a:r>
              <a:t>Saved records must remain when the application restarts.</a:t>
            </a:r>
          </a:p>
          <a:p xmlns:a="http://schemas.openxmlformats.org/drawingml/2006/main">
            <a:r>
              <a:t>Each story has a clear test.</a:t>
            </a:r>
          </a:p>
          <a:p xmlns:a="http://schemas.openxmlformats.org/drawingml/2006/main">
            <a:r>
              <a:t>For example, the system must reject a second loan for the same device.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New loans require a phone number with seven to fifteen digits.</a:t>
            </a:r>
          </a:p>
          <a:p xmlns:a="http://schemas.openxmlformats.org/drawingml/2006/main">
            <a:r>
              <a:t>Spaces and common phone symbols are allowed.</a:t>
            </a:r>
          </a:p>
          <a:p xmlns:a="http://schemas.openxmlformats.org/drawingml/2006/main">
            <a:r>
              <a:t>This checks the format only.</a:t>
            </a:r>
          </a:p>
          <a:p xmlns:a="http://schemas.openxmlformats.org/drawingml/2006/main">
            <a:r>
              <a:t>It cannot check who owns the number.</a:t>
            </a:r>
          </a:p>
          <a:p xmlns:a="http://schemas.openxmlformats.org/drawingml/2006/main">
            <a:r>
              <a:t>Online booking, accounts and payments are outside the current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只解释讲稿中的重点，不逐行读表格，也不补充电话号码的全部格式规则。累计约 3:00。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 | Xuerui Huang | 03:00–05:00 (120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proposed roles are shown here.</a:t>
            </a:r>
          </a:p>
          <a:p xmlns:a="http://schemas.openxmlformats.org/drawingml/2006/main">
            <a:r>
              <a:t>I cover requirements, planning and the interface.</a:t>
            </a:r>
          </a:p>
          <a:p xmlns:a="http://schemas.openxmlformats.org/drawingml/2006/main">
            <a:r>
              <a:t>Bin covers objects, rules and integration.</a:t>
            </a:r>
          </a:p>
          <a:p xmlns:a="http://schemas.openxmlformats.org/drawingml/2006/main">
            <a:r>
              <a:t>Yonghui covers storage, testing and evidence.</a:t>
            </a:r>
          </a:p>
          <a:p xmlns:a="http://schemas.openxmlformats.org/drawingml/2006/main">
            <a:r>
              <a:t>Each member should also review another part.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report uses a two-sprint planning example.</a:t>
            </a:r>
          </a:p>
          <a:p xmlns:a="http://schemas.openxmlformats.org/drawingml/2006/main">
            <a:r>
              <a:t>Sprint one covers inventory, borrowing and storage.</a:t>
            </a:r>
          </a:p>
          <a:p xmlns:a="http://schemas.openxmlformats.org/drawingml/2006/main">
            <a:r>
              <a:t>Sprint two covers returns, history and testing.</a:t>
            </a:r>
          </a:p>
          <a:p xmlns:a="http://schemas.openxmlformats.org/drawingml/2006/main">
            <a:r>
              <a:t>The estimates are twenty-three and thirty-one hours: fifty-four hours in total.</a:t>
            </a:r>
          </a:p>
          <a:p xmlns:a="http://schemas.openxmlformats.org/drawingml/2006/main">
            <a:r>
              <a:t>These are examples, not records of completed student meetings.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Later changes add the GUI, Windows support, two devices and phone contacts.</a:t>
            </a:r>
          </a:p>
          <a:p xmlns:a="http://schemas.openxmlformats.org/drawingml/2006/main">
            <a:r>
              <a:t>The plan adds twelve hours for review and adaptation.</a:t>
            </a:r>
          </a:p>
          <a:p xmlns:a="http://schemas.openxmlformats.org/drawingml/2006/main">
            <a:r>
              <a:t>This gives sixty-six hours overall.</a:t>
            </a:r>
          </a:p>
          <a:p xmlns:a="http://schemas.openxmlformats.org/drawingml/2006/main">
            <a:r>
              <a:t>The current estimate also allows each member to review another component.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thirty dollars per hour, labour is one thousand nine hundred and eighty dollars.</a:t>
            </a:r>
          </a:p>
          <a:p xmlns:a="http://schemas.openxmlformats.org/drawingml/2006/main">
            <a:r>
              <a:t>With resources and contingency, the total estimate is two thousand two hundred and eleven New Zealand dollars.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Bin will now explain the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成本只读讲稿中的 labour 和 total，不逐项念表。估算保持为估算，会议示例保持为示例。累计约 5:00 交接给 Bin。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 | Bin Wang | 05:00–06:30 (90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Thank you. The design has separate parts for the interface, rules and storage.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GUI and terminal interface share one LoanService.</a:t>
            </a:r>
          </a:p>
          <a:p xmlns:a="http://schemas.openxmlformats.org/drawingml/2006/main">
            <a:r>
              <a:t>This keeps the borrowing rules consistent.</a:t>
            </a:r>
          </a:p>
          <a:p xmlns:a="http://schemas.openxmlformats.org/drawingml/2006/main">
            <a:r>
              <a:t>The interface displays the result and updates the tables after a successful action.</a:t>
            </a:r>
          </a:p>
          <a:p xmlns:a="http://schemas.openxmlformats.org/drawingml/2006/main">
            <a:r>
              <a:t>The service receives a repository object.</a:t>
            </a:r>
          </a:p>
          <a:p xmlns:a="http://schemas.openxmlformats.org/drawingml/2006/main">
            <a:r>
              <a:t>This is composition.</a:t>
            </a:r>
          </a:p>
          <a:p xmlns:a="http://schemas.openxmlformats.org/drawingml/2006/main">
            <a:r>
              <a:t>The repository saves and loads records in SQLite.</a:t>
            </a:r>
          </a:p>
          <a:p xmlns:a="http://schemas.openxmlformats.org/drawingml/2006/main">
            <a:r>
              <a:t>Equipment and Loan objects carry the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service checks names, phone numbers and availability.</a:t>
            </a:r>
          </a:p>
          <a:p xmlns:a="http://schemas.openxmlformats.org/drawingml/2006/main">
            <a:r>
              <a:t>The database also prevents two active loans for one device.</a:t>
            </a:r>
          </a:p>
          <a:p xmlns:a="http://schemas.openxmlformats.org/drawingml/2006/main">
            <a:r>
              <a:t>Tablet and Microphone use the same Equipment model because their borrowing behaviour is the same.</a:t>
            </a:r>
          </a:p>
          <a:p xmlns:a="http://schemas.openxmlformats.org/drawingml/2006/main">
            <a:r>
              <a:t>The interface uses equipment IDs for borrowing and loan IDs for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慢速讲述；句号处自然停顿。讲清两个界面共用服务、组合关系、服务校验和数据库约束。累计 6:30。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 | Bin Wang | 06:30–07:15 (45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New loans require a phone number.</a:t>
            </a:r>
          </a:p>
          <a:p xmlns:a="http://schemas.openxmlformats.org/drawingml/2006/main">
            <a:r>
              <a:t>Older records may not have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program adds the new database column automatically.</a:t>
            </a:r>
          </a:p>
          <a:p xmlns:a="http://schemas.openxmlformats.org/drawingml/2006/main">
            <a:r>
              <a:t>It keeps the earlier IDs, names and times.</a:t>
            </a:r>
          </a:p>
          <a:p xmlns:a="http://schemas.openxmlformats.org/drawingml/2006/main">
            <a:r>
              <a:t>A missing old phone appears as Not recorded.</a:t>
            </a:r>
          </a:p>
          <a:p xmlns:a="http://schemas.openxmlformats.org/drawingml/2006/main">
            <a:r>
              <a:t>It does not invent contacts.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will now show the GUI.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慢速讲述；句号处自然停顿。解释旧记录升级，不清空数据库，不编造历史电话。累计 7:15，切到演示。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 | Bin Wang | 07:15–09:30 (135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This is a separate demo database.</a:t>
            </a:r>
          </a:p>
          <a:p xmlns:a="http://schemas.openxmlformats.org/drawingml/2006/main">
            <a:r>
              <a:t>I select Tablet and enter Demo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I leave the phone empty.</a:t>
            </a:r>
          </a:p>
          <a:p xmlns:a="http://schemas.openxmlformats.org/drawingml/2006/main">
            <a:r>
              <a:t>The system rejects the request.</a:t>
            </a:r>
          </a:p>
          <a:p xmlns:a="http://schemas.openxmlformats.org/drawingml/2006/main">
            <a:r>
              <a:t>Now I enter a fictional phone and record the loan.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tablet shows On loan.</a:t>
            </a:r>
          </a:p>
          <a:p xmlns:a="http://schemas.openxmlformats.org/drawingml/2006/main">
            <a:r>
              <a:t>The borrow button is disabled while this tablet is on loan.</a:t>
            </a:r>
          </a:p>
          <a:p xmlns:a="http://schemas.openxmlformats.org/drawingml/2006/main">
            <a:r>
              <a:t>The history shows the borrower and phone.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select this loan and return it.</a:t>
            </a:r>
          </a:p>
          <a:p xmlns:a="http://schemas.openxmlformats.org/drawingml/2006/main">
            <a:r>
              <a:t>The tablet is available again.</a:t>
            </a:r>
          </a:p>
          <a:p xmlns:a="http://schemas.openxmlformats.org/drawingml/2006/main">
            <a:r>
              <a:t>The returned record stays in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close the window and reopen the same database.</a:t>
            </a:r>
          </a:p>
          <a:p xmlns:a="http://schemas.openxmlformats.org/drawingml/2006/main">
            <a:r>
              <a:t>The saved record is still here.</a:t>
            </a:r>
          </a:p>
          <a:p xmlns:a="http://schemas.openxmlformats.org/drawingml/2006/main">
            <a:r>
              <a:t>Returns use the Loan ID shown in the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本页 2:15 已包含边讲边操作。0–15 秒：选 Tablet，输入 Demo A；15–40 秒：空电话被拒，再填 0200000000 并借出；40–60 秒：展示 On loan 和历史；60–85 秒：选历史行归还；85–115 秒：关闭并重开同一数据库；115–135 秒：展示历史仍在，返回 PPT。实际操作时不必持续说话。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 | Bin Wang | 09:30–10:00 (30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Both interfaces share the same rules.</a:t>
            </a:r>
          </a:p>
          <a:p xmlns:a="http://schemas.openxmlformats.org/drawingml/2006/main">
            <a:r>
              <a:t>The system keeps returned loans in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local prototype.</a:t>
            </a:r>
          </a:p>
          <a:p xmlns:a="http://schemas.openxmlformats.org/drawingml/2006/main">
            <a:r>
              <a:t>It has no shared server, login or encryption.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Yonghui will now discuss testing and the remaining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慢速讲述；句号处自然停顿。30 秒总结并交接。10:00 由 Yonghui 接手。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 | Yonghui Dai | 10:00–11:30 (90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Thank you. The recorded macOS checks passed twenty unit and GUI tests, plus twelve acceptance checks.</a:t>
            </a:r>
          </a:p>
          <a:p xmlns:a="http://schemas.openxmlformats.org/drawingml/2006/main">
            <a:r>
              <a:t>That includes twelve business and storage tests and eight GUI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They cover borrowing, invalid input, duplicate loans, returns and saved history.</a:t>
            </a:r>
          </a:p>
          <a:p xmlns:a="http://schemas.openxmlformats.org/drawingml/2006/main">
            <a:r>
              <a:t>They also check phone contacts, both new devices and Unicode names.</a:t>
            </a:r>
          </a:p>
          <a:p xmlns:a="http://schemas.openxmlformats.org/drawingml/2006/main">
            <a:r>
              <a:t>Migration tests check that older records stay unchanged.</a:t>
            </a:r>
          </a:p>
          <a:p xmlns:a="http://schemas.openxmlformats.org/drawingml/2006/main">
            <a:r>
              <a:t>The GUI tests use real windows and controls with temporary databases.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results came from assistant-run checks.</a:t>
            </a:r>
          </a:p>
          <a:p xmlns:a="http://schemas.openxmlformats.org/drawingml/2006/main">
            <a:r>
              <a:t>They do not show that students or a client accepted the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Windows launcher is included, but it still needs a real Windows test.</a:t>
            </a:r>
          </a:p>
          <a:p xmlns:a="http://schemas.openxmlformats.org/drawingml/2006/main">
            <a:r>
              <a:t>The team should also test the extracted ZIP on the presentation computer.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20 项 unit/GUI 与另外 12 项 acceptance 分开说。Windows 仍为待实测。讲稿保留报告中 24 October 的已记录结果；本次 25 October 的重新解压复查也通过，但不冒充学生验收。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 | Yonghui Dai | 11:30–13:00 (90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report considers partnership, participation and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Partnership means seeking appropriate guidance.</a:t>
            </a:r>
          </a:p>
          <a:p xmlns:a="http://schemas.openxmlformats.org/drawingml/2006/main">
            <a:r>
              <a:t>Participation means giving relevant people a chance to influence the requirements.</a:t>
            </a:r>
          </a:p>
          <a:p xmlns:a="http://schemas.openxmlformats.org/drawingml/2006/main">
            <a:r>
              <a:t>Protection includes reviewing the information collected and stored.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Phone numbers make this important.</a:t>
            </a:r>
          </a:p>
          <a:p xmlns:a="http://schemas.openxmlformats.org/drawingml/2006/main">
            <a:r>
              <a:t>Before real use, the team needs to agree why contacts are needed, who can see them, and when to delete them.</a:t>
            </a:r>
          </a:p>
          <a:p xmlns:a="http://schemas.openxmlformats.org/drawingml/2006/main">
            <a:r>
              <a:t>The current demo uses fictional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preserves Unicode names and macrons.</a:t>
            </a:r>
          </a:p>
          <a:p xmlns:a="http://schemas.openxmlformats.org/drawingml/2006/main">
            <a:r>
              <a:t>This supports accurate text, but does not prove cultural suitability.</a:t>
            </a:r>
          </a:p>
          <a:p xmlns:a="http://schemas.openxmlformats.org/drawingml/2006/main">
            <a:r>
              <a:t>For example, a user should be able to ask why their phone is required.</a:t>
            </a:r>
          </a:p>
          <a:p xmlns:a="http://schemas.openxmlformats.org/drawingml/2006/main">
            <a:r>
              <a:t>Kaiārahi consultation is still open.</a:t>
            </a:r>
          </a:p>
          <a:p xmlns:a="http://schemas.openxmlformats.org/drawingml/2006/main">
            <a:r>
              <a:t>The prepared questions need appropriate advice and follow-up.</a:t>
            </a:r>
          </a:p>
          <a:p xmlns:a="http://schemas.openxmlformats.org/drawingml/2006/main">
            <a:r>
              <a:t>The team should record how advice changes the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慢速讲述；句号处自然停顿。用具体电话字段说明 protection；说明咨询仍待开展。累计 13:00。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 | Yonghui Dai | 13:00–14:30 (90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current design gives us three points for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a small change can affect the whole system.</a:t>
            </a:r>
          </a:p>
          <a:p xmlns:a="http://schemas.openxmlformats.org/drawingml/2006/main">
            <a:r>
              <a:t>Adding a phone field affects the screen, rules, data model, database and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Second, an upgrade should protect old records.</a:t>
            </a:r>
          </a:p>
          <a:p xmlns:a="http://schemas.openxmlformats.org/drawingml/2006/main">
            <a:r>
              <a:t>Tests should compare saved values and reopen the database.</a:t>
            </a:r>
          </a:p>
          <a:p xmlns:a="http://schemas.openxmlformats.org/drawingml/2006/main">
            <a:r>
              <a:t>A success message alone is not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Third, team roles need shared understanding.</a:t>
            </a:r>
          </a:p>
          <a:p xmlns:a="http://schemas.openxmlformats.org/drawingml/2006/main">
            <a:r>
              <a:t>Each member should explain another component and review a complete borrowing path.</a:t>
            </a:r>
          </a:p>
          <a:p xmlns:a="http://schemas.openxmlformats.org/drawingml/2006/main">
            <a:r>
              <a:t>Personal reflections must use actual contributions and learning.</a:t>
            </a:r>
          </a:p>
          <a:p xmlns:a="http://schemas.openxmlformats.org/drawingml/2006/main">
            <a:r>
              <a:t>A dated review should name the people involved and link decisions to the source version.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next steps are a presentation-machine check, client review and appropriate cultural guidance.</a:t>
            </a:r>
          </a:p>
          <a:p xmlns:a="http://schemas.openxmlformats.org/drawingml/2006/main">
            <a:r>
              <a:t>The reports should then record what actually happened.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慢速讲述；句号处自然停顿。反思使用分析语气，不声称未做过的团队活动。累计 14:30。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 | Yonghui Dai | 14:30–15:00 (30 seconds)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ENGLISH SCRIPT</a:t>
            </a:r>
          </a:p>
          <a:p xmlns:a="http://schemas.openxmlformats.org/drawingml/2006/main">
            <a:r>
              <a:t>The current release supports five devices, phone contacts, borrowing, returns and saved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remaining work includes Windows testing, participant review and consultation.</a:t>
            </a:r>
          </a:p>
          <a:p xmlns:a="http://schemas.openxmlformats.org/drawingml/2006/main">
            <a:r>
              <a:t>The project is available on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 for listening.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操作提示（不朗读）</a:t>
            </a:r>
          </a:p>
          <a:p xmlns:a="http://schemas.openxmlformats.org/drawingml/2006/main">
            <a:r>
              <a:t>结束和感谢。15 分钟是全场分配，不要求靠拖长单词填满。问答是否计入总时长仍以老师要求为准。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current selected Project Report (sections 3–5, 8–10 and appendices), Reflection Report and Python source at GitHub source commit d61c66ca11d2fd69c2bd40c005d3e4b53f65b100. Repository: https://github.com/dreamgithub0920/Campus_Equipment_Loan_System. Technical checks recorded 24 October 2026 on macOS; not a Windows execution or student activity record. Screenshots were captured from the current application on 25 October 2026 NZDT using an isolated in-memory database and fictional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f971864ba4d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487aa7ba44e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cb4c6f969f44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77f7135f4842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da3bff6e6d42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512d4a7b24b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B5C9A5-4C31-472A-94B1-CF90505DA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68E51E-4EFA-457B-9D9A-297B030348B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B59132-357F-433C-8171-FCE5E7BB92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81A495-AD9F-480B-AADF-37C71EBD06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4786FE-9B13-4D70-88D8-3880A4D569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1B45C19-B97A-403E-814C-FC7D9C9FAB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C87D45-81A7-4E19-865A-2E1A6FD740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ADA79A5-2629-4E1B-8EB8-9F9492EE61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91E7FB-1BD1-436C-9910-D4D88CD5B0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469BAA-793B-4186-A116-79C19EFE67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9d47952f1c4f74" /><Relationship Type="http://schemas.openxmlformats.org/officeDocument/2006/relationships/slideLayout" Target="/ppt/slideLayouts/slideLayout1.xml" Id="R0d387a3cbb2c4601" /><Relationship Type="http://schemas.openxmlformats.org/officeDocument/2006/relationships/slideLayout" Target="/ppt/slideLayouts/slideLayout2.xml" Id="R1ba9eb7a319145a8" /><Relationship Type="http://schemas.openxmlformats.org/officeDocument/2006/relationships/slideLayout" Target="/ppt/slideLayouts/slideLayout3.xml" Id="R072b5a8b40324e52" /><Relationship Type="http://schemas.openxmlformats.org/officeDocument/2006/relationships/slideLayout" Target="/ppt/slideLayouts/slideLayout4.xml" Id="R5c0a7fd05dc64a50" /><Relationship Type="http://schemas.openxmlformats.org/officeDocument/2006/relationships/slideLayout" Target="/ppt/slideLayouts/slideLayout5.xml" Id="R21989320406f42f1" /><Relationship Type="http://schemas.openxmlformats.org/officeDocument/2006/relationships/slideLayout" Target="/ppt/slideLayouts/slideLayout6.xml" Id="R02337d20c12245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387a3cbb2c4601"/>
    <p:sldLayoutId xmlns:r="http://schemas.openxmlformats.org/officeDocument/2006/relationships" id="2147483650" r:id="R1ba9eb7a319145a8"/>
    <p:sldLayoutId xmlns:r="http://schemas.openxmlformats.org/officeDocument/2006/relationships" id="2147483651" r:id="R072b5a8b40324e52"/>
    <p:sldLayoutId xmlns:r="http://schemas.openxmlformats.org/officeDocument/2006/relationships" id="2147483652" r:id="R5c0a7fd05dc64a50"/>
    <p:sldLayoutId xmlns:r="http://schemas.openxmlformats.org/officeDocument/2006/relationships" id="2147483653" r:id="R21989320406f42f1"/>
    <p:sldLayoutId xmlns:r="http://schemas.openxmlformats.org/officeDocument/2006/relationships" id="2147483654" r:id="R02337d20c12245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4e26e66e5b4eaf" /><Relationship Type="http://schemas.openxmlformats.org/officeDocument/2006/relationships/image" Target="/ppt/media/image.png" Id="R8a58b5075cf74e3b" /><Relationship Type="http://schemas.openxmlformats.org/officeDocument/2006/relationships/notesSlide" Target="/ppt/notesSlides/notesSlide1.xml" Id="R38521aac012048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ce04a4396e4870" /><Relationship Type="http://schemas.openxmlformats.org/officeDocument/2006/relationships/notesSlide" Target="/ppt/notesSlides/notesSlide2.xml" Id="R03d9cceec9df4c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3e8524630e4cb1" /><Relationship Type="http://schemas.openxmlformats.org/officeDocument/2006/relationships/notesSlide" Target="/ppt/notesSlides/notesSlide3.xml" Id="Rbb1bf48dd11f46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b8980c15ae4037" /><Relationship Type="http://schemas.openxmlformats.org/officeDocument/2006/relationships/notesSlide" Target="/ppt/notesSlides/notesSlide4.xml" Id="Rd3b4d0308a1d4d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9d8c9febfe4c7b" /><Relationship Type="http://schemas.openxmlformats.org/officeDocument/2006/relationships/notesSlide" Target="/ppt/notesSlides/notesSlide5.xml" Id="R13b2a6edd78041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cf95874c8f4bd0" /><Relationship Type="http://schemas.openxmlformats.org/officeDocument/2006/relationships/notesSlide" Target="/ppt/notesSlides/notesSlide6.xml" Id="R063470fd41cf4d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1740defc094aab" /><Relationship Type="http://schemas.openxmlformats.org/officeDocument/2006/relationships/image" Target="/ppt/media/image2.png" Id="R2f290dcefde34f84" /><Relationship Type="http://schemas.openxmlformats.org/officeDocument/2006/relationships/notesSlide" Target="/ppt/notesSlides/notesSlide7.xml" Id="Ra7baa5982a6945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8620d9108045f9" /><Relationship Type="http://schemas.openxmlformats.org/officeDocument/2006/relationships/image" Target="/ppt/media/image3.png" Id="R26a240c17a2041aa" /><Relationship Type="http://schemas.openxmlformats.org/officeDocument/2006/relationships/notesSlide" Target="/ppt/notesSlides/notesSlide8.xml" Id="R281d3dbee9ba46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a8794dff534a06" /><Relationship Type="http://schemas.openxmlformats.org/officeDocument/2006/relationships/notesSlide" Target="/ppt/notesSlides/notesSlide9.xml" Id="Rc1663e4c67d74f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08452a0c654fa5" /><Relationship Type="http://schemas.openxmlformats.org/officeDocument/2006/relationships/notesSlide" Target="/ppt/notesSlides/notesSlide10.xml" Id="Rf7bf87f4f8ab4f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37505a6e80414d" /><Relationship Type="http://schemas.openxmlformats.org/officeDocument/2006/relationships/notesSlide" Target="/ppt/notesSlides/notesSlide11.xml" Id="R8fa97ccface745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6b322e892b4713" /><Relationship Type="http://schemas.openxmlformats.org/officeDocument/2006/relationships/notesSlide" Target="/ppt/notesSlides/notesSlide12.xml" Id="R00457d02374046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urse">
            <a:extLst xmlns:a="http://schemas.openxmlformats.org/drawingml/2006/main">
              <a:ext uri="{FF2B5EF4-FFF2-40B4-BE49-F238E27FC236}">
                <a16:creationId xmlns:a16="http://schemas.microsoft.com/office/drawing/2014/main" id="{5D484E8E-EFF8-4B74-A7E6-6BDD6F41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B58DC4F4-62A9-435F-9E58-10F8E071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Xuerui Huang  |  00:00–00:30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C6FC3A0-4F55-40F8-A027-510B7C47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01 / 12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F46D6E-6EC9-4205-94D3-C0FE2A43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5810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Campus Equipment</a:t>
            </a:r>
          </a:p>
          <a:p xmlns:a="http://schemas.openxmlformats.org/drawingml/2006/main">
            <a:pPr algn="l">
              <a:buNone/>
              <a:defRPr sz="45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Loan System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E526E65-EA88-4088-8102-978F37BB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52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A6F6B"/>
                </a:solidFill>
                <a:latin typeface="Arial"/>
                <a:ea typeface="Arial"/>
                <a:cs typeface="Arial"/>
              </a:rPr>
              <a:t>A local desktop application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A6F6B"/>
                </a:solidFill>
                <a:latin typeface="Arial"/>
                <a:ea typeface="Arial"/>
                <a:cs typeface="Arial"/>
              </a:rPr>
              <a:t>for a campus equipment desk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F92546-6B07-411A-9B71-FA0375BE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048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Xuerui Huang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Bin Wang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Yonghui Dai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F7531-B549-47C9-BC5F-663DF3A776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58b5075cf74e3b"/>
          <a:stretch xmlns:a="http://schemas.openxmlformats.org/drawingml/2006/main"/>
        </p:blipFill>
        <p:spPr>
          <a:xfrm xmlns:a="http://schemas.openxmlformats.org/drawingml/2006/main">
            <a:off x="6762750" y="1676026"/>
            <a:ext cx="4819650" cy="3563098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F83CC1E-CE3B-418B-A385-49A5C1BF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10225"/>
            <a:ext cx="4819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Requirements  ·  Design and demo  ·  Evidence and reflection</a:t>
            </a:r>
          </a:p>
        </p:txBody>
      </p:sp>
    </p:spTree>
    <p:extLst>
      <p:ext uri="{BB962C8B-B14F-4D97-AF65-F5344CB8AC3E}">
        <p14:creationId xmlns:p14="http://schemas.microsoft.com/office/powerpoint/2010/main" val="12391148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urse">
            <a:extLst xmlns:a="http://schemas.openxmlformats.org/drawingml/2006/main">
              <a:ext uri="{FF2B5EF4-FFF2-40B4-BE49-F238E27FC236}">
                <a16:creationId xmlns:a16="http://schemas.microsoft.com/office/drawing/2014/main" id="{D3D49B0D-FAE2-4A65-850F-8F7F54A2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8A14C2-CD4A-4E7B-84E6-01B2BB88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Equipment desk workflow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8676EAC5-2D8F-4923-AF72-A4F33686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Xuerui Huang  |  00:30–01:30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B907EE3-AE1F-46F4-BE1A-8103B6C8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02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9755EE-ADFF-4CC5-BB93-F5B24EB0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Check availability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2EB5A3B-E54D-4625-BCFC-5A4A2F16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4762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Find an available device by its ID and name.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D17C4E6-462F-4F5C-97B1-219096E3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Record a loan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328C7FD-29BE-4FD0-A55B-DB9D7AC9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4762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Enter a borrower name or alias and a phone.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B1E3737-28D2-4580-BCC3-D3752A41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Register a return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570386D-4D98-4D2B-8DDC-D4790630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4762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Keep the completed loan in the history.</a:t>
            </a:r>
          </a:p>
        </p:txBody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5DCF43-C0C3-4357-88F0-FDA49A94D4F2}"/>
              </a:ext>
            </a:extLst>
          </p:cNvPr>
          <p:cNvGraphicFramePr/>
          <p:nvPr/>
        </p:nvGraphicFramePr>
        <p:xfrm>
          <a:off xmlns:a="http://schemas.openxmlformats.org/drawingml/2006/main" x="6286500" y="1743075"/>
          <a:ext xmlns:a="http://schemas.openxmlformats.org/drawingml/2006/main" cx="52959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4343400"/>
              </a:tblGrid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Equipment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</a:tr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Laptop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Camera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Projector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Tablet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6032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Microphone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4084FB5-8C33-4D57-A8BE-71A3C702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007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Python + Tkinter + SQLite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One local database per workstation</a:t>
            </a:r>
          </a:p>
        </p:txBody>
      </p:sp>
    </p:spTree>
    <p:extLst>
      <p:ext uri="{BB962C8B-B14F-4D97-AF65-F5344CB8AC3E}">
        <p14:creationId xmlns:p14="http://schemas.microsoft.com/office/powerpoint/2010/main" val="6741278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urse">
            <a:extLst xmlns:a="http://schemas.openxmlformats.org/drawingml/2006/main">
              <a:ext uri="{FF2B5EF4-FFF2-40B4-BE49-F238E27FC236}">
                <a16:creationId xmlns:a16="http://schemas.microsoft.com/office/drawing/2014/main" id="{3362DDDC-F7D0-4AE2-9392-3831E12C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AD7E8F-CB5F-471A-B7AA-05CDD83C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Requirements and priorities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EAE9E0ED-7CFF-4DAB-AF5A-1873D0A4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Xuerui Huang  |  01:30–03:00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61E5ED2-3F65-4560-9A76-9F6B9857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03 / 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71703-8E3D-47F0-A021-AF1799A44868}"/>
              </a:ext>
            </a:extLst>
          </p:cNvPr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8020050"/>
                <a:gridCol w="1809750"/>
              </a:tblGrid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Story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Observable requirement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US01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View equipment availability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US02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Borrow with name and phone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US03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Return an active loan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US04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Review loan history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Should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US05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Preserve records after restart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3464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US06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Preserve Unicode names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Must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43BCC67-5C7F-4664-A7FC-4FE42B1F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Phone format: 7–15 digits, up to 30 formatted characters.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942C7E0-B896-42D9-822A-25EC17AD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Spaces, hyphens, parentheses and one leading + are allowed.</a:t>
            </a:r>
          </a:p>
        </p:txBody>
      </p:sp>
    </p:spTree>
    <p:extLst>
      <p:ext uri="{BB962C8B-B14F-4D97-AF65-F5344CB8AC3E}">
        <p14:creationId xmlns:p14="http://schemas.microsoft.com/office/powerpoint/2010/main" val="15531503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urse">
            <a:extLst xmlns:a="http://schemas.openxmlformats.org/drawingml/2006/main">
              <a:ext uri="{FF2B5EF4-FFF2-40B4-BE49-F238E27FC236}">
                <a16:creationId xmlns:a16="http://schemas.microsoft.com/office/drawing/2014/main" id="{6661F401-32A3-4982-9E16-93625E8C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8AC2AE-6392-4E1F-AE19-306B9425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Team, sprints and estimate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EF15A06C-FF52-430A-ACFD-BD6CFE30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Xuerui Huang  |  03:00–05:00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EA0F96B-F4E7-42DE-8439-B7F75FA2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04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6A62C99-2681-4E87-8C9D-F2FF25F2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Proposed responsibilities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75049BA-2A1F-4A1B-B2ED-2A0C34DB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Xuerui Huang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9A3D175-CACE-4AAD-B19A-6D7B2A8D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Requirements, coordination and interface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DFF74BE-180B-49EF-A320-9F90E7AB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Bin Wang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E55FC3F-1EB1-497E-91CE-67F0DEE9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953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Domain objects, business rules and integration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1C933AB-3E98-44CB-9E47-2A8D3313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Yonghui Dai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583D103-E806-4249-A56B-36EF2BE9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4953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Persistence, testing and evidence</a:t>
            </a:r>
          </a:p>
        </p:txBody>
      </p:sp>
      <p:graphicFrame>
        <p:nvGraphicFrame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E8CA6-1BBA-4B95-BA26-D9D09183CD14}"/>
              </a:ext>
            </a:extLst>
          </p:cNvPr>
          <p:cNvGraphicFramePr/>
          <p:nvPr/>
        </p:nvGraphicFramePr>
        <p:xfrm>
          <a:off xmlns:a="http://schemas.openxmlformats.org/drawingml/2006/main" x="6191250" y="1743075"/>
          <a:ext xmlns:a="http://schemas.openxmlformats.org/drawingml/2006/main" cx="53911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57650"/>
                <a:gridCol w="1333500"/>
              </a:tblGrid>
              <a:tr h="50292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Planning allowance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Hours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</a:tr>
              <a:tr h="50292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Sprint 1 example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23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Sprint 2 example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50292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Release adaptation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Total estimate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E6F0407-4CBB-49BC-8402-9318150F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NZD 2,211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13D05E7-1A5E-45F9-B716-566F1AFB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33975"/>
            <a:ext cx="539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Labour 1,980 + resources 30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+ 10% contingency 201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9D0406E-2FB1-425C-AA0A-D109ECE7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Planning examples and estimates; no claim of completed student hours or meetings.</a:t>
            </a:r>
          </a:p>
        </p:txBody>
      </p:sp>
    </p:spTree>
    <p:extLst>
      <p:ext uri="{BB962C8B-B14F-4D97-AF65-F5344CB8AC3E}">
        <p14:creationId xmlns:p14="http://schemas.microsoft.com/office/powerpoint/2010/main" val="8917041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urse">
            <a:extLst xmlns:a="http://schemas.openxmlformats.org/drawingml/2006/main">
              <a:ext uri="{FF2B5EF4-FFF2-40B4-BE49-F238E27FC236}">
                <a16:creationId xmlns:a16="http://schemas.microsoft.com/office/drawing/2014/main" id="{9B3CF0EE-D6A1-4F76-8576-F293E995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2ED5A8-753C-4424-B88B-FB97A5A6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Object-oriented structure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C31F357D-35C6-4810-9C0F-F7F3C146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Bin Wang  |  05:00–06:30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A59C2A7-66C3-412B-BEA5-4CCCC129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05 / 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A9C81-A195-4823-9B48-5AD173421DA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667125"/>
                <a:gridCol w="4924425"/>
              </a:tblGrid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Responsibility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Objects / entry points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Interface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LoanApp / app.py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GUI and terminal inputs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Business rules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LoanService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Validate borrowing and returns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Storage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EquipmentRepository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Read, write and migrate SQLite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Domain data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Equipment / Loan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Carry equipment and loan data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6316DD0-98B1-4406-B7E8-B42E1A17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Both interfaces use one LoanService.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D9DF1B6-9788-4743-965E-4620BE3D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Composition: the service receives a repository object in its constructor.</a:t>
            </a:r>
          </a:p>
        </p:txBody>
      </p:sp>
    </p:spTree>
    <p:extLst>
      <p:ext uri="{BB962C8B-B14F-4D97-AF65-F5344CB8AC3E}">
        <p14:creationId xmlns:p14="http://schemas.microsoft.com/office/powerpoint/2010/main" val="1338764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urse">
            <a:extLst xmlns:a="http://schemas.openxmlformats.org/drawingml/2006/main">
              <a:ext uri="{FF2B5EF4-FFF2-40B4-BE49-F238E27FC236}">
                <a16:creationId xmlns:a16="http://schemas.microsoft.com/office/drawing/2014/main" id="{CD3722F6-AE93-4683-94A5-618CBD51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644B7A-A3BA-489B-B215-F6A94312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Phone storage and older records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141E332F-3917-48E0-9556-1DA72B45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Bin Wang  |  06:30–07:15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29491DB-836E-49AC-8CFF-37F7BA08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06 / 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9527B-91A9-44C4-BFE4-4594686E0F55}"/>
              </a:ext>
            </a:extLst>
          </p:cNvPr>
          <p:cNvGraphicFramePr/>
          <p:nvPr/>
        </p:nvGraphicFramePr>
        <p:xfrm>
          <a:off xmlns:a="http://schemas.openxmlformats.org/drawingml/2006/main" x="609600" y="181927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095625"/>
                <a:gridCol w="4733925"/>
              </a:tblGrid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Field / behaviour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New loan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Earlier loan after migration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T w="6668">
                      <a:solidFill>
                        <a:srgbClr val="D5E0DA"/>
                      </a:solidFill>
                      <a:prstDash val="solid"/>
                    </a:lnT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173B4B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Phone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Required and validated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Not recorded if missing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Existing identifiers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New loan ID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Preserved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Earlier name and times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Not applicable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Preserved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History</a:t>
                      </a:r>
                    </a:p>
                  </a:txBody>
                  <a:tcPr marL="133350" marR="114300" marT="95250" marB="76200" anchor="ctr">
                    <a:lnL w="6668">
                      <a:solidFill>
                        <a:srgbClr val="D5E0DA"/>
                      </a:solidFill>
                      <a:prstDash val="solid"/>
                    </a:lnL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Retained on return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 lIns="0" tIns="0" rIns="0" bIns="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3B4B"/>
                          </a:solidFill>
                          <a:latin typeface="Arial"/>
                          <a:ea typeface="Arial"/>
                          <a:cs typeface="Arial"/>
                        </a:rPr>
                        <a:t>Retained</a:t>
                      </a:r>
                    </a:p>
                  </a:txBody>
                  <a:tcPr marL="133350" marR="114300" marT="95250" marB="76200" anchor="ctr">
                    <a:lnR w="6668">
                      <a:solidFill>
                        <a:srgbClr val="D5E0DA"/>
                      </a:solidFill>
                      <a:prstDash val="solid"/>
                    </a:lnR>
                    <a:lnB w="6668">
                      <a:solidFill>
                        <a:srgbClr val="D5E0DA"/>
                      </a:solidFill>
                      <a:prstDash val="solid"/>
                    </a:lnB>
                    <a:solidFill>
                      <a:srgbClr val="EAF0EB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2F36DA5-4E8F-436D-A8F5-288C37B1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Add borrower_phone without deleting earlier loans.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5DE2625-55C4-44A9-80AF-AC3FFF96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Missing historical information stays visible; the program does not invent contacts.</a:t>
            </a:r>
          </a:p>
        </p:txBody>
      </p:sp>
    </p:spTree>
    <p:extLst>
      <p:ext uri="{BB962C8B-B14F-4D97-AF65-F5344CB8AC3E}">
        <p14:creationId xmlns:p14="http://schemas.microsoft.com/office/powerpoint/2010/main" val="11547645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urse">
            <a:extLst xmlns:a="http://schemas.openxmlformats.org/drawingml/2006/main">
              <a:ext uri="{FF2B5EF4-FFF2-40B4-BE49-F238E27FC236}">
                <a16:creationId xmlns:a16="http://schemas.microsoft.com/office/drawing/2014/main" id="{F06910A4-93D7-4E19-953F-45DB2218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D45F7D-215B-4607-9979-963F97D0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Live GUI demonstration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7769476E-16FD-42CC-AF6F-84FE0276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Bin Wang  |  07:15–09:30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604F45F-9DBE-428B-A2F2-1B35424D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07 / 12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81410-2641-44F8-AAF7-8C0CDF49CE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90dcefde34f84"/>
          <a:stretch xmlns:a="http://schemas.openxmlformats.org/drawingml/2006/main"/>
        </p:blipFill>
        <p:spPr>
          <a:xfrm xmlns:a="http://schemas.openxmlformats.org/drawingml/2006/main">
            <a:off x="1019819" y="1619250"/>
            <a:ext cx="6132812" cy="4533900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80DA165-7455-41B4-83CC-90B835C1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1714500"/>
            <a:ext cx="3590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2 min 15 sec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624A1CC-E262-44AC-A298-E8D447B7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81250"/>
            <a:ext cx="35909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1  Select Tablet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2  Check required phone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3  Borrow and return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4  Reopen the database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D28B59-480A-4986-8E55-DF53ED6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457825"/>
            <a:ext cx="35909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Fictional demo details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Demo A  /  0200000000</a:t>
            </a:r>
          </a:p>
        </p:txBody>
      </p:sp>
    </p:spTree>
    <p:extLst>
      <p:ext uri="{BB962C8B-B14F-4D97-AF65-F5344CB8AC3E}">
        <p14:creationId xmlns:p14="http://schemas.microsoft.com/office/powerpoint/2010/main" val="10227845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urse">
            <a:extLst xmlns:a="http://schemas.openxmlformats.org/drawingml/2006/main">
              <a:ext uri="{FF2B5EF4-FFF2-40B4-BE49-F238E27FC236}">
                <a16:creationId xmlns:a16="http://schemas.microsoft.com/office/drawing/2014/main" id="{157DB81A-8D19-4A1B-90B0-40D479E4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E0B74E-95A5-49D2-8D61-401AA717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Design choices and limits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14096093-3CC1-4000-8778-6BDA91E6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Bin Wang  |  09:30–10:00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B636F7-4460-4C6E-9268-47F6B219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08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C9D42C9-34DC-4A60-8ABB-15A842A1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Shared rules in GUI and CLI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D8BFE08-90B5-4FD6-B7B6-2CD526F4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Return a loan without losing its history.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A1A284E-160E-481F-A0F0-F440594C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Current boundary: one workstation, no server, login or database encryption.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D5B65-6BE0-48B7-BD82-02F3FE999A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240c17a2041aa"/>
          <a:srcRect xmlns:a="http://schemas.openxmlformats.org/drawingml/2006/main" l="1600" t="58000" r="1600" b="12000"/>
          <a:stretch xmlns:a="http://schemas.openxmlformats.org/drawingml/2006/main"/>
        </p:blipFill>
        <p:spPr>
          <a:xfrm xmlns:a="http://schemas.openxmlformats.org/drawingml/2006/main">
            <a:off x="609600" y="4000500"/>
            <a:ext cx="10972800" cy="1952625"/>
          </a:xfrm>
          <a:prstGeom xmlns:a="http://schemas.openxmlformats.org/drawingml/2006/main" prst="rect">
            <a:avLst/>
          </a:prstGeom>
        </p:spPr>
      </p:pic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CACF71E-9AAB-40E4-ACEE-3D74F7DF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Actual returned record with fictional borrower details</a:t>
            </a:r>
          </a:p>
        </p:txBody>
      </p:sp>
    </p:spTree>
    <p:extLst>
      <p:ext uri="{BB962C8B-B14F-4D97-AF65-F5344CB8AC3E}">
        <p14:creationId xmlns:p14="http://schemas.microsoft.com/office/powerpoint/2010/main" val="9414626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urse">
            <a:extLst xmlns:a="http://schemas.openxmlformats.org/drawingml/2006/main">
              <a:ext uri="{FF2B5EF4-FFF2-40B4-BE49-F238E27FC236}">
                <a16:creationId xmlns:a16="http://schemas.microsoft.com/office/drawing/2014/main" id="{1F266293-5393-4287-9DB6-E247DFB0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E42E72-A20F-41FB-ADEA-3466C9C4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Technical verification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D042A4A9-46D8-4BE8-BD62-F6296633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Yonghui Dai  |  10:00–11:30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459CD80-1E59-476E-9D4F-00F00F4C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09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C7D621C-A945-467C-8F2C-9A98A6B4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3A79F02-38F2-4411-899B-15D428F6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unittest checks passed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F9CDF8F-E36C-4371-BA31-8B93D05E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12 business and storage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8 GUI checks with real Tk widgets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93B2139-C236-4B55-AEBA-32F6C91C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66875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72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E660B49-332F-4C5D-AA9D-265F1210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47975"/>
            <a:ext cx="510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acceptance checks passed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07EACFC-4FC4-4B4B-AE1C-44A4679D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900"/>
            <a:ext cx="5105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Borrow, reject, return, restart,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Unicode, new devices and phone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74AD5AF-0293-4128-9C23-611CF5E5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macOS execution recorded on 24 October 2026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121F64C-951E-45E2-B484-6D40FFBB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Windows launcher included; a real Windows run is still required.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Technical verification does not establish client acceptance.</a:t>
            </a:r>
          </a:p>
        </p:txBody>
      </p:sp>
    </p:spTree>
    <p:extLst>
      <p:ext uri="{BB962C8B-B14F-4D97-AF65-F5344CB8AC3E}">
        <p14:creationId xmlns:p14="http://schemas.microsoft.com/office/powerpoint/2010/main" val="7340578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urse">
            <a:extLst xmlns:a="http://schemas.openxmlformats.org/drawingml/2006/main">
              <a:ext uri="{FF2B5EF4-FFF2-40B4-BE49-F238E27FC236}">
                <a16:creationId xmlns:a16="http://schemas.microsoft.com/office/drawing/2014/main" id="{4BFF3E34-B40A-4FA8-BE22-6C3008FE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3780C7-CF44-4AFD-8087-459880CF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Cultural considerations and Te Tiriti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700A89F9-15EB-47CE-A818-C5841657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Yonghui Dai  |  11:30–13:00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CD430A3-2F71-4373-AC76-1A887D15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59E76F2-2CCB-43A1-B104-590C2037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Partnership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35AA280-76DF-41E2-899A-DD1D1B11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7907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Seek appropriate guidance before settling cultural decisions.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82A8534-8EEF-40F3-B658-F6A77D03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Participation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6C72216-7F99-434D-87BD-D7FD6578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Invite relevant people to influence requirements and review.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F96DBC2-7D70-43DF-A11C-63453B10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943EC9C-1C99-4AC2-A99B-3B6893E4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767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Review why phone data is needed, access and retention.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1F313A4-D690-41C2-8E5F-A0EFC60D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Kaiārahi consultation: OPEN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C859A4B-4D1C-4FF9-8F1F-DEBAB321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Unicode support is implemented; cultural suitability needs appropriate review.</a:t>
            </a:r>
          </a:p>
        </p:txBody>
      </p:sp>
    </p:spTree>
    <p:extLst>
      <p:ext uri="{BB962C8B-B14F-4D97-AF65-F5344CB8AC3E}">
        <p14:creationId xmlns:p14="http://schemas.microsoft.com/office/powerpoint/2010/main" val="2137881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urse">
            <a:extLst xmlns:a="http://schemas.openxmlformats.org/drawingml/2006/main">
              <a:ext uri="{FF2B5EF4-FFF2-40B4-BE49-F238E27FC236}">
                <a16:creationId xmlns:a16="http://schemas.microsoft.com/office/drawing/2014/main" id="{2663ED2C-76FB-42D3-BC10-A2113559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F23031-7ED3-4670-A83F-DBC54A6A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Reflection and next review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2F47EDC7-5571-468A-875F-CFBCCCD5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Yonghui Dai  |  13:00–14:30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C735933-9F74-4159-BE4E-4E108EAE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B0B7F4A-5AE2-44DF-83D1-25388596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A phone field affects every layer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3C0A834-B2D1-4320-9EB1-24C79E5A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Connect requirements to the interface, rules, model, storage and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F31DCB1-58A4-44A5-A0B2-B1292F8C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Migration must preserve earlier records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89AE3EF-C428-4177-81CF-C268BFE9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Compare saved values and reopen the database to verify the result.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66B7E11-AB1A-4A6B-928A-0E333CB3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Team roles need a cross-check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790F955-FB72-4531-94FC-D72AFB45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Review another component; base personal reflection on actual contributions.</a:t>
            </a:r>
          </a:p>
        </p:txBody>
      </p:sp>
    </p:spTree>
    <p:extLst>
      <p:ext uri="{BB962C8B-B14F-4D97-AF65-F5344CB8AC3E}">
        <p14:creationId xmlns:p14="http://schemas.microsoft.com/office/powerpoint/2010/main" val="928242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urse">
            <a:extLst xmlns:a="http://schemas.openxmlformats.org/drawingml/2006/main">
              <a:ext uri="{FF2B5EF4-FFF2-40B4-BE49-F238E27FC236}">
                <a16:creationId xmlns:a16="http://schemas.microsoft.com/office/drawing/2014/main" id="{0BA73263-3549-4BF2-A166-257D3A12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A6F76"/>
                </a:solidFill>
                <a:latin typeface="Arial"/>
                <a:ea typeface="Arial"/>
                <a:cs typeface="Arial"/>
              </a:rPr>
              <a:t>MSE800  /  ASSESSMENT 2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4859F4-1ED4-4410-B50B-74CB4E8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Current release and next steps</a:t>
            </a:r>
          </a:p>
        </p:txBody>
      </p:sp>
      <p:sp>
        <p:nvSpPr>
          <p:cNvPr id="3" name="speaker-time">
            <a:extLst xmlns:a="http://schemas.openxmlformats.org/drawingml/2006/main">
              <a:ext uri="{FF2B5EF4-FFF2-40B4-BE49-F238E27FC236}">
                <a16:creationId xmlns:a16="http://schemas.microsoft.com/office/drawing/2014/main" id="{99DB3440-F8F4-4516-9603-BBE9D693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90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Yonghui Dai  |  14:30–15:00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E2C960C-FAFF-4FCA-A666-64B2761A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4E1EE8A-C371-4857-80DE-3535130C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2A6F6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6F6B"/>
                </a:solidFill>
                <a:latin typeface="Arial"/>
                <a:ea typeface="Arial"/>
                <a:cs typeface="Arial"/>
              </a:rPr>
              <a:t>Current release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6C886C7-3481-499D-BF26-E3DD1C7C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Five devices  ·  Required phone  ·  Borrow and return  ·  Saved history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F950B8E-8025-455C-8DA8-50EABB2D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B4B"/>
                </a:solidFill>
                <a:latin typeface="Arial"/>
                <a:ea typeface="Arial"/>
                <a:cs typeface="Arial"/>
              </a:rPr>
              <a:t>Next: Windows verification, participant review and consultation.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CE8B9B7-7040-4E45-AE3F-573EC8F4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900" b="1">
                <a:solidFill>
                  <a:srgbClr val="173B4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B4B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570A2AE-0F5F-408D-9F64-64BFEC42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github.com/dreamgithub0920/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A6F7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A6F76"/>
                </a:solidFill>
                <a:latin typeface="Arial"/>
                <a:ea typeface="Arial"/>
                <a:cs typeface="Arial"/>
              </a:rPr>
              <a:t>Campus_Equipment_Loan_System</a:t>
            </a:r>
          </a:p>
        </p:txBody>
      </p:sp>
    </p:spTree>
    <p:extLst>
      <p:ext uri="{BB962C8B-B14F-4D97-AF65-F5344CB8AC3E}">
        <p14:creationId xmlns:p14="http://schemas.microsoft.com/office/powerpoint/2010/main" val="1052637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2026-10-24T12:59:34.2550000Z</dcterms:created>
  <dcterms:modified xsi:type="dcterms:W3CDTF">2026-10-24T12:59:34.2550000Z</dcterms:modified>
</coreProperties>
</file>